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77240"/>
            <a:ext cx="91440" cy="4480560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1078992"/>
            <a:ext cx="71323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Microsoft YaHei"/>
              </a:rPr>
              <a:t>双周进展汇报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38528"/>
            <a:ext cx="7132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B9DAD2"/>
                </a:solidFill>
                <a:latin typeface="Microsoft YaHei"/>
              </a:rPr>
              <a:t>论文调研  ×  Go2 实机部署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6035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3DDDA"/>
                </a:solidFill>
                <a:latin typeface="Microsoft YaHei"/>
              </a:rPr>
              <a:t>LM-Nav  /  RT-2  /  OmniNav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28416"/>
            <a:ext cx="67665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完成 L1 IMU 校准与 Point-LIO SLAM 实机运行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4748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FC0BB"/>
                </a:solidFill>
                <a:latin typeface="Microsoft YaHei"/>
              </a:rPr>
              <a:t>2026.10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1207008"/>
            <a:ext cx="310896" cy="310896"/>
          </a:xfrm>
          <a:prstGeom prst="ellipse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23901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语言指令</a:t>
            </a:r>
          </a:p>
        </p:txBody>
      </p:sp>
      <p:sp>
        <p:nvSpPr>
          <p:cNvPr id="10" name="Oval 9"/>
          <p:cNvSpPr/>
          <p:nvPr/>
        </p:nvSpPr>
        <p:spPr>
          <a:xfrm>
            <a:off x="9966960" y="2029968"/>
            <a:ext cx="310896" cy="310896"/>
          </a:xfrm>
          <a:prstGeom prst="ellipse">
            <a:avLst/>
          </a:prstGeom>
          <a:solidFill>
            <a:srgbClr val="346B91"/>
          </a:solidFill>
          <a:ln>
            <a:solidFill>
              <a:srgbClr val="346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206197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语义目标</a:t>
            </a:r>
          </a:p>
        </p:txBody>
      </p:sp>
      <p:sp>
        <p:nvSpPr>
          <p:cNvPr id="12" name="Oval 11"/>
          <p:cNvSpPr/>
          <p:nvPr/>
        </p:nvSpPr>
        <p:spPr>
          <a:xfrm>
            <a:off x="8641080" y="2889504"/>
            <a:ext cx="310896" cy="310896"/>
          </a:xfrm>
          <a:prstGeom prst="ellipse">
            <a:avLst/>
          </a:prstGeom>
          <a:solidFill>
            <a:srgbClr val="D58B35"/>
          </a:solidFill>
          <a:ln>
            <a:solidFill>
              <a:srgbClr val="D5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921508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定位建图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3822191"/>
            <a:ext cx="310896" cy="310896"/>
          </a:xfrm>
          <a:prstGeom prst="ellipse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34472" y="3854196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闭环执行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67928" y="1517904"/>
            <a:ext cx="1554480" cy="512064"/>
          </a:xfrm>
          <a:prstGeom prst="line">
            <a:avLst/>
          </a:prstGeom>
          <a:ln w="25400">
            <a:solidFill>
              <a:srgbClr val="5571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796528" y="2340864"/>
            <a:ext cx="1325880" cy="548640"/>
          </a:xfrm>
          <a:prstGeom prst="line">
            <a:avLst/>
          </a:prstGeom>
          <a:ln w="25400">
            <a:solidFill>
              <a:srgbClr val="5571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96528" y="3200400"/>
            <a:ext cx="1554480" cy="621791"/>
          </a:xfrm>
          <a:prstGeom prst="line">
            <a:avLst/>
          </a:prstGeom>
          <a:ln w="25400">
            <a:solidFill>
              <a:srgbClr val="5571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0" y="498348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9DAD2"/>
                </a:solidFill>
                <a:latin typeface="Microsoft YaHei"/>
              </a:rPr>
              <a:t>感知  →  建图  →  导航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87E75"/>
                </a:solidFill>
                <a:latin typeface="Microsoft YaHei"/>
              </a:rPr>
              <a:t>阶段总览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7262B"/>
                </a:solidFill>
                <a:latin typeface="Microsoft YaHei"/>
              </a:rPr>
              <a:t>本阶段进展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0972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1064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0"/>
                </a:solidFill>
                <a:latin typeface="Microsoft YaHei"/>
              </a:rPr>
              <a:t>GO2  /  双周进展                                   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37360"/>
            <a:ext cx="331012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37360"/>
            <a:ext cx="3310128" cy="73152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62B"/>
                </a:solidFill>
                <a:latin typeface="Microsoft YaHei"/>
              </a:rPr>
              <a:t>论文调研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33472"/>
            <a:ext cx="2788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87E75"/>
                </a:solidFill>
                <a:latin typeface="Microsoft YaHei"/>
              </a:rPr>
              <a:t>3 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" y="3264408"/>
            <a:ext cx="2834640" cy="13716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3666744"/>
            <a:ext cx="64008" cy="64008"/>
          </a:xfrm>
          <a:prstGeom prst="roundRect">
            <a:avLst>
              <a:gd name="adj" fmla="val 8000"/>
            </a:avLst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84448"/>
            <a:ext cx="266090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62B"/>
                </a:solidFill>
                <a:latin typeface="Microsoft YaHei"/>
              </a:rPr>
              <a:t>梳理语言理解、视觉语义与机器人动作的连接方式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4471416"/>
            <a:ext cx="64008" cy="64008"/>
          </a:xfrm>
          <a:prstGeom prst="roundRect">
            <a:avLst>
              <a:gd name="adj" fmla="val 8000"/>
            </a:avLst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89120"/>
            <a:ext cx="266090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62B"/>
                </a:solidFill>
                <a:latin typeface="Microsoft YaHei"/>
              </a:rPr>
              <a:t>归纳长时序导航中的记忆、搜索与执行闭环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737360"/>
            <a:ext cx="331012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3984" y="1737360"/>
            <a:ext cx="3310128" cy="73152"/>
          </a:xfrm>
          <a:prstGeom prst="rect">
            <a:avLst/>
          </a:prstGeom>
          <a:solidFill>
            <a:srgbClr val="346B91"/>
          </a:solidFill>
          <a:ln>
            <a:solidFill>
              <a:srgbClr val="346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205740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62B"/>
                </a:solidFill>
                <a:latin typeface="Microsoft YaHei"/>
              </a:rPr>
              <a:t>实机部署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633472"/>
            <a:ext cx="2788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46B91"/>
                </a:solidFill>
                <a:latin typeface="Microsoft YaHei"/>
              </a:rPr>
              <a:t>Go2 + L1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2584" y="3264408"/>
            <a:ext cx="2834640" cy="13716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72584" y="3666744"/>
            <a:ext cx="64008" cy="64008"/>
          </a:xfrm>
          <a:prstGeom prst="roundRect">
            <a:avLst>
              <a:gd name="adj" fmla="val 8000"/>
            </a:avLst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584448"/>
            <a:ext cx="266090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62B"/>
                </a:solidFill>
                <a:latin typeface="Microsoft YaHei"/>
              </a:rPr>
              <a:t>克隆并编译 autonomy_stack_go2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72584" y="4471416"/>
            <a:ext cx="64008" cy="64008"/>
          </a:xfrm>
          <a:prstGeom prst="roundRect">
            <a:avLst>
              <a:gd name="adj" fmla="val 8000"/>
            </a:avLst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389120"/>
            <a:ext cx="266090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62B"/>
                </a:solidFill>
                <a:latin typeface="Microsoft YaHei"/>
              </a:rPr>
              <a:t>完成实机通信检查与 L1 IMU 校准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1737360"/>
            <a:ext cx="3310128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6175" y="1737360"/>
            <a:ext cx="3310128" cy="73152"/>
          </a:xfrm>
          <a:prstGeom prst="rect">
            <a:avLst/>
          </a:prstGeom>
          <a:solidFill>
            <a:srgbClr val="D58B35"/>
          </a:solidFill>
          <a:ln>
            <a:solidFill>
              <a:srgbClr val="D5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4776" y="205740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62B"/>
                </a:solidFill>
                <a:latin typeface="Microsoft YaHei"/>
              </a:rPr>
              <a:t>运行验证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633472"/>
            <a:ext cx="2788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58B35"/>
                </a:solidFill>
                <a:latin typeface="Microsoft YaHei"/>
              </a:rPr>
              <a:t>SLAM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94776" y="3264408"/>
            <a:ext cx="2834640" cy="13716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94776" y="3666744"/>
            <a:ext cx="64008" cy="64008"/>
          </a:xfrm>
          <a:prstGeom prst="roundRect">
            <a:avLst>
              <a:gd name="adj" fmla="val 8000"/>
            </a:avLst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1" y="3584448"/>
            <a:ext cx="266090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62B"/>
                </a:solidFill>
                <a:latin typeface="Microsoft YaHei"/>
              </a:rPr>
              <a:t>Point-LIO 接入 L1 点云与 IMU 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94776" y="4471416"/>
            <a:ext cx="64008" cy="64008"/>
          </a:xfrm>
          <a:prstGeom prst="roundRect">
            <a:avLst>
              <a:gd name="adj" fmla="val 8000"/>
            </a:avLst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1" y="4389120"/>
            <a:ext cx="2660904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7262B"/>
                </a:solidFill>
                <a:latin typeface="Microsoft YaHei"/>
              </a:rPr>
              <a:t>RViz 可查看点云、里程计与建图过程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1081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B70"/>
                </a:solidFill>
                <a:latin typeface="Microsoft YaHei"/>
              </a:rPr>
              <a:t>当前阶段已建立实机感知与定位建图基础，导航闭环进入后续验证。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87E75"/>
                </a:solidFill>
                <a:latin typeface="Microsoft YaHei"/>
              </a:rPr>
              <a:t>论文调研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7262B"/>
                </a:solidFill>
                <a:latin typeface="Microsoft YaHei"/>
              </a:rPr>
              <a:t>三篇论文：从指令理解走向长时序执行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0972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1064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0"/>
                </a:solidFill>
                <a:latin typeface="Microsoft YaHei"/>
              </a:rPr>
              <a:t>GO2  /  双周进展                                    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37360"/>
            <a:ext cx="32552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87E75"/>
                </a:solidFill>
                <a:latin typeface="Microsoft YaHei"/>
              </a:rPr>
              <a:t>LM-Nav</a:t>
            </a:r>
          </a:p>
        </p:txBody>
      </p:sp>
      <p:pic>
        <p:nvPicPr>
          <p:cNvPr id="8" name="Picture 7" descr="_crop_lmnav-framework-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032977"/>
            <a:ext cx="3200400" cy="6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7512" y="3032977"/>
            <a:ext cx="3200400" cy="664028"/>
          </a:xfrm>
          <a:prstGeom prst="rect">
            <a:avLst/>
          </a:prstGeom>
          <a:noFill/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709160"/>
            <a:ext cx="321868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62B"/>
                </a:solidFill>
                <a:latin typeface="Microsoft YaHei"/>
              </a:rPr>
              <a:t>语言解析地标，视觉匹配目标，导航策略执行。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5696712"/>
            <a:ext cx="32186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来源：论文框架图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737360"/>
            <a:ext cx="32552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46B91"/>
                </a:solidFill>
                <a:latin typeface="Microsoft YaHei"/>
              </a:rPr>
              <a:t>RT-2</a:t>
            </a:r>
          </a:p>
        </p:txBody>
      </p:sp>
      <p:pic>
        <p:nvPicPr>
          <p:cNvPr id="13" name="Picture 12" descr="_crop_rt2-framework-v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782501"/>
            <a:ext cx="3200400" cy="11649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89704" y="2782501"/>
            <a:ext cx="3200400" cy="1164980"/>
          </a:xfrm>
          <a:prstGeom prst="rect">
            <a:avLst/>
          </a:prstGeom>
          <a:noFill/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709160"/>
            <a:ext cx="321868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62B"/>
                </a:solidFill>
                <a:latin typeface="Microsoft YaHei"/>
              </a:rPr>
              <a:t>把动作表示为 token，与视觉语言数据共同训练。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5696712"/>
            <a:ext cx="32186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来源：论文框架图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737360"/>
            <a:ext cx="32552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58B35"/>
                </a:solidFill>
                <a:latin typeface="Microsoft YaHei"/>
              </a:rPr>
              <a:t>OmniNav</a:t>
            </a:r>
          </a:p>
        </p:txBody>
      </p:sp>
      <p:pic>
        <p:nvPicPr>
          <p:cNvPr id="18" name="Picture 17" descr="_crop_omninav-framework-v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641233"/>
            <a:ext cx="3200400" cy="14475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311896" y="2641233"/>
            <a:ext cx="3200400" cy="1447516"/>
          </a:xfrm>
          <a:prstGeom prst="rect">
            <a:avLst/>
          </a:prstGeom>
          <a:noFill/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4709160"/>
            <a:ext cx="3218688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62B"/>
                </a:solidFill>
                <a:latin typeface="Microsoft YaHei"/>
              </a:rPr>
              <a:t>动态场景记忆、证据更新与可操作位姿联合规划。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5696712"/>
            <a:ext cx="32186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来源：论文框架图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071616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87E75"/>
                </a:solidFill>
                <a:latin typeface="Microsoft YaHei"/>
              </a:rPr>
              <a:t>共同脉络：语义理解 → 空间决策 → 机器人执行与反馈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87E75"/>
                </a:solidFill>
                <a:latin typeface="Microsoft YaHei"/>
              </a:rPr>
              <a:t>对项目的启发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7262B"/>
                </a:solidFill>
                <a:latin typeface="Microsoft YaHei"/>
              </a:rPr>
              <a:t>研究结论：构建可验证的导航闭环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0972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1064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0"/>
                </a:solidFill>
                <a:latin typeface="Microsoft YaHei"/>
              </a:rPr>
              <a:t>GO2  /  双周进展                                   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874519"/>
            <a:ext cx="2194560" cy="1170432"/>
          </a:xfrm>
          <a:prstGeom prst="roundRect">
            <a:avLst>
              <a:gd name="adj" fmla="val 8000"/>
            </a:avLst>
          </a:prstGeom>
          <a:solidFill>
            <a:srgbClr val="DCEFEA"/>
          </a:solidFill>
          <a:ln>
            <a:solidFill>
              <a:srgbClr val="DC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93976"/>
            <a:ext cx="19385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87E75"/>
                </a:solidFill>
                <a:latin typeface="Microsoft YaHei"/>
              </a:rPr>
              <a:t>任务表达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2374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0"/>
                </a:solidFill>
                <a:latin typeface="Microsoft YaHei"/>
              </a:rPr>
              <a:t>自然语言 / 目标点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874519"/>
            <a:ext cx="2194560" cy="1170432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093976"/>
            <a:ext cx="19385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6B91"/>
                </a:solidFill>
                <a:latin typeface="Microsoft YaHei"/>
              </a:rPr>
              <a:t>语义落地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52374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0"/>
                </a:solidFill>
                <a:latin typeface="Microsoft YaHei"/>
              </a:rPr>
              <a:t>地标与场景目标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874519"/>
            <a:ext cx="2194560" cy="1170432"/>
          </a:xfrm>
          <a:prstGeom prst="roundRect">
            <a:avLst>
              <a:gd name="adj" fmla="val 8000"/>
            </a:avLst>
          </a:prstGeom>
          <a:solidFill>
            <a:srgbClr val="F8ECD9"/>
          </a:solidFill>
          <a:ln>
            <a:solidFill>
              <a:srgbClr val="F8E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3" y="2093976"/>
            <a:ext cx="19385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58B35"/>
                </a:solidFill>
                <a:latin typeface="Microsoft YaHei"/>
              </a:rPr>
              <a:t>空间规划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52374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0"/>
                </a:solidFill>
                <a:latin typeface="Microsoft YaHei"/>
              </a:rPr>
              <a:t>地图、可达性、路径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0304" y="1874519"/>
            <a:ext cx="2194560" cy="1170432"/>
          </a:xfrm>
          <a:prstGeom prst="roundRect">
            <a:avLst>
              <a:gd name="adj" fmla="val 8000"/>
            </a:avLst>
          </a:prstGeom>
          <a:solidFill>
            <a:srgbClr val="DCEFEA"/>
          </a:solidFill>
          <a:ln>
            <a:solidFill>
              <a:srgbClr val="DC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093976"/>
            <a:ext cx="193852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87E75"/>
                </a:solidFill>
                <a:latin typeface="Microsoft YaHei"/>
              </a:rPr>
              <a:t>运动执行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52374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0"/>
                </a:solidFill>
                <a:latin typeface="Microsoft YaHei"/>
              </a:rPr>
              <a:t>局部控制与反馈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2240280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5B6B70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2240280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5B6B70"/>
                </a:solidFill>
                <a:latin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240280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5B6B7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" y="3529584"/>
            <a:ext cx="10808208" cy="13716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22191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B6B70"/>
                </a:solidFill>
                <a:latin typeface="Microsoft YaHei"/>
              </a:rPr>
              <a:t>三篇工作共同指向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224528"/>
            <a:ext cx="1024128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87E75"/>
                </a:solidFill>
                <a:latin typeface="Microsoft YaHei"/>
              </a:rPr>
              <a:t>分层决策：</a:t>
            </a:r>
            <a:r>
              <a:rPr sz="1500">
                <a:solidFill>
                  <a:srgbClr val="17262B"/>
                </a:solidFill>
                <a:latin typeface="Microsoft YaHei"/>
              </a:rPr>
              <a:t>语言模型负责目标表达，导航模块负责空间与运动约束。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346B91"/>
                </a:solidFill>
                <a:latin typeface="Microsoft YaHei"/>
              </a:rPr>
              <a:t>持续更新：</a:t>
            </a:r>
            <a:r>
              <a:rPr sz="1500">
                <a:solidFill>
                  <a:srgbClr val="17262B"/>
                </a:solidFill>
                <a:latin typeface="Microsoft YaHei"/>
              </a:rPr>
              <a:t>定位、地图和目标状态需要随观测与执行结果迭代。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58B35"/>
                </a:solidFill>
                <a:latin typeface="Microsoft YaHei"/>
              </a:rPr>
              <a:t>逐级验证：</a:t>
            </a:r>
            <a:r>
              <a:rPr sz="1500">
                <a:solidFill>
                  <a:srgbClr val="17262B"/>
                </a:solidFill>
                <a:latin typeface="Microsoft YaHei"/>
              </a:rPr>
              <a:t>先验证传感器与定位，再验证路径跟随，最后扩展语义任务。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87E75"/>
                </a:solidFill>
                <a:latin typeface="Microsoft YaHei"/>
              </a:rPr>
              <a:t>系统部署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7262B"/>
                </a:solidFill>
                <a:latin typeface="Microsoft YaHei"/>
              </a:rPr>
              <a:t>Go2 实机：已跑通感知与建图链路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0972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1064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0"/>
                </a:solidFill>
                <a:latin typeface="Microsoft YaHei"/>
              </a:rPr>
              <a:t>GO2  /  双周进展                                   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883664"/>
            <a:ext cx="18470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6B91"/>
                </a:solidFill>
                <a:latin typeface="Microsoft YaHei"/>
              </a:rPr>
              <a:t>Unitree Go2 + 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267712"/>
            <a:ext cx="18470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实机传感器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DCEFEA"/>
          </a:solidFill>
          <a:ln>
            <a:solidFill>
              <a:srgbClr val="DC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1883664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87E75"/>
                </a:solidFill>
                <a:latin typeface="Microsoft YaHei"/>
              </a:rPr>
              <a:t>DDS 数据链路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2267712"/>
            <a:ext cx="187451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IMU / 点云样本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8ECD9"/>
          </a:solidFill>
          <a:ln>
            <a:solidFill>
              <a:srgbClr val="F8E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1883664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58B35"/>
                </a:solidFill>
                <a:latin typeface="Microsoft YaHei"/>
              </a:rPr>
              <a:t>传感器变换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267712"/>
            <a:ext cx="187451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外参配置与坐标系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DCEFEA"/>
          </a:solidFill>
          <a:ln>
            <a:solidFill>
              <a:srgbClr val="DC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883664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87E75"/>
                </a:solidFill>
                <a:latin typeface="Microsoft YaHei"/>
              </a:rPr>
              <a:t>Point-LIO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67712"/>
            <a:ext cx="187451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里程计与地图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020824"/>
            <a:ext cx="4023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5B6B70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020824"/>
            <a:ext cx="4023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5B6B70"/>
                </a:solidFill>
                <a:latin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424" y="2020824"/>
            <a:ext cx="4023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5B6B70"/>
                </a:solidFill>
                <a:latin typeface="Microsoft YaHei"/>
              </a:rPr>
              <a:t>→</a:t>
            </a:r>
          </a:p>
        </p:txBody>
      </p:sp>
      <p:pic>
        <p:nvPicPr>
          <p:cNvPr id="22" name="Picture 21" descr="_crop_rviz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721" y="3081528"/>
            <a:ext cx="4259036" cy="23317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648721" y="3081528"/>
            <a:ext cx="4259036" cy="2331720"/>
          </a:xfrm>
          <a:prstGeom prst="rect">
            <a:avLst/>
          </a:prstGeom>
          <a:noFill/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5486400"/>
            <a:ext cx="49011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B70"/>
                </a:solidFill>
                <a:latin typeface="Microsoft YaHei"/>
              </a:rPr>
              <a:t>仓库 RViz 界面示例（仿真截图）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71216"/>
            <a:ext cx="10625328" cy="13716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18211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7E75"/>
                </a:solidFill>
                <a:latin typeface="Microsoft YaHei"/>
              </a:rPr>
              <a:t>实机验证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703320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87E75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3694176"/>
            <a:ext cx="24688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62B"/>
                </a:solidFill>
                <a:latin typeface="Microsoft YaHei"/>
              </a:rPr>
              <a:t>通信检查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4096512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70"/>
                </a:solidFill>
                <a:latin typeface="Microsoft YaHei"/>
              </a:rPr>
              <a:t>L1 IMU 与点云话题样本正常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703320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87E75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694176"/>
            <a:ext cx="24688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62B"/>
                </a:solidFill>
                <a:latin typeface="Microsoft YaHei"/>
              </a:rPr>
              <a:t>IMU 校准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096512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70"/>
                </a:solidFill>
                <a:latin typeface="Microsoft YaHei"/>
              </a:rPr>
              <a:t>完成标定并生成参数文件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901184"/>
            <a:ext cx="22860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62B"/>
                </a:solidFill>
                <a:latin typeface="Microsoft YaHei"/>
              </a:rPr>
              <a:t>Point-LIO SLAM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285232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Microsoft YaHei"/>
              </a:rPr>
              <a:t>实机运行：点云、里程计与轨迹可视化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870448"/>
            <a:ext cx="5212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85C4A"/>
                </a:solidFill>
                <a:latin typeface="Microsoft YaHei"/>
              </a:rPr>
              <a:t>下一步：验证外参与时间同步，再接入路径跟随。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87E75"/>
                </a:solidFill>
                <a:latin typeface="Microsoft YaHei"/>
              </a:rPr>
              <a:t>后续两周安排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7262B"/>
                </a:solidFill>
                <a:latin typeface="Microsoft YaHei"/>
              </a:rPr>
              <a:t>下一阶段：从建图走向稳定导航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0972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11064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B70"/>
                </a:solidFill>
                <a:latin typeface="Microsoft YaHei"/>
              </a:rPr>
              <a:t>GO2  /  双周进展                                   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74519"/>
            <a:ext cx="2971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87E75"/>
                </a:solidFill>
                <a:latin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633472"/>
            <a:ext cx="2560320" cy="32004"/>
          </a:xfrm>
          <a:prstGeom prst="rect">
            <a:avLst/>
          </a:prstGeom>
          <a:solidFill>
            <a:srgbClr val="DCEFEA"/>
          </a:solidFill>
          <a:ln>
            <a:solidFill>
              <a:srgbClr val="DC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62B"/>
                </a:solidFill>
                <a:latin typeface="Microsoft YaHei"/>
              </a:rPr>
              <a:t>稳定性复测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5603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Microsoft YaHei"/>
              </a:rPr>
              <a:t>重复采集同一路线，检查地图连续性、漂移与系统启动稳定性。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1874519"/>
            <a:ext cx="2971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3" y="207568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46B91"/>
                </a:solidFill>
                <a:latin typeface="Microsoft YaHe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3" y="2633472"/>
            <a:ext cx="2560320" cy="32004"/>
          </a:xfrm>
          <a:prstGeom prst="rect">
            <a:avLst/>
          </a:prstGeom>
          <a:solidFill>
            <a:srgbClr val="E4EEF4"/>
          </a:solidFill>
          <a:ln>
            <a:solidFill>
              <a:srgbClr val="E4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880360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62B"/>
                </a:solidFill>
                <a:latin typeface="Microsoft YaHei"/>
              </a:rPr>
              <a:t>参数验证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3319272"/>
            <a:ext cx="25603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Microsoft YaHei"/>
              </a:rPr>
              <a:t>按录包回放评估 IMU-LiDAR 外参与时间同步，再更新实机配置。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874519"/>
            <a:ext cx="2971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2075688"/>
            <a:ext cx="594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58B35"/>
                </a:solidFill>
                <a:latin typeface="Microsoft YaHe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2633472"/>
            <a:ext cx="2560320" cy="32004"/>
          </a:xfrm>
          <a:prstGeom prst="rect">
            <a:avLst/>
          </a:prstGeom>
          <a:solidFill>
            <a:srgbClr val="F8ECD9"/>
          </a:solidFill>
          <a:ln>
            <a:solidFill>
              <a:srgbClr val="F8E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6" y="2880360"/>
            <a:ext cx="2560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62B"/>
                </a:solidFill>
                <a:latin typeface="Microsoft YaHei"/>
              </a:rPr>
              <a:t>导航闭环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3319272"/>
            <a:ext cx="256032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70"/>
                </a:solidFill>
                <a:latin typeface="Microsoft YaHei"/>
              </a:rPr>
              <a:t>接入局部规划与目标点跟随，在安全场地完成低速往返测试。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90288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B6B70"/>
                </a:solidFill>
                <a:latin typeface="Microsoft YaHei"/>
              </a:rPr>
              <a:t>验收顺序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47488"/>
            <a:ext cx="10287000" cy="50292"/>
          </a:xfrm>
          <a:prstGeom prst="rect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910328"/>
            <a:ext cx="310896" cy="310896"/>
          </a:xfrm>
          <a:prstGeom prst="ellipse">
            <a:avLst/>
          </a:prstGeom>
          <a:solidFill>
            <a:srgbClr val="087E75"/>
          </a:solidFill>
          <a:ln>
            <a:solidFill>
              <a:srgbClr val="087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340096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62B"/>
                </a:solidFill>
                <a:latin typeface="Microsoft YaHei"/>
              </a:rPr>
              <a:t>重复建图</a:t>
            </a:r>
          </a:p>
        </p:txBody>
      </p:sp>
      <p:sp>
        <p:nvSpPr>
          <p:cNvPr id="26" name="Oval 25"/>
          <p:cNvSpPr/>
          <p:nvPr/>
        </p:nvSpPr>
        <p:spPr>
          <a:xfrm>
            <a:off x="4233672" y="4910328"/>
            <a:ext cx="310896" cy="310896"/>
          </a:xfrm>
          <a:prstGeom prst="ellipse">
            <a:avLst/>
          </a:prstGeom>
          <a:solidFill>
            <a:srgbClr val="346B91"/>
          </a:solidFill>
          <a:ln>
            <a:solidFill>
              <a:srgbClr val="346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5340096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62B"/>
                </a:solidFill>
                <a:latin typeface="Microsoft YaHei"/>
              </a:rPr>
              <a:t>定位稳定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4910328"/>
            <a:ext cx="310896" cy="310896"/>
          </a:xfrm>
          <a:prstGeom prst="ellipse">
            <a:avLst/>
          </a:prstGeom>
          <a:solidFill>
            <a:srgbClr val="D58B35"/>
          </a:solidFill>
          <a:ln>
            <a:solidFill>
              <a:srgbClr val="D5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5340096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62B"/>
                </a:solidFill>
                <a:latin typeface="Microsoft YaHei"/>
              </a:rPr>
              <a:t>目标点到达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79008"/>
            <a:ext cx="10698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7E75"/>
                </a:solidFill>
                <a:latin typeface="Microsoft YaHei"/>
              </a:rPr>
              <a:t>阶段目标：形成可复现的 Go2 感知—定位—路径跟随验证流程。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Go2 双周进展汇报</dc:title>
  <dc:subject>论文调研与实机部署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